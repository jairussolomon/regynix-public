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Regynix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Genus Retiming Synthesis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200400" cy="36576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Register Retiming for Timing Closure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Jairus Samraj Solomon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23774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Genus 21.14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3657600"/>
            <a:ext cx="2011680" cy="34747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RTL-to-Gates 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042416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RTL Synthesis with Register Retiming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438912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53312"/>
            <a:ext cx="438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4447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RTL Verilog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7373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testdesign.v – a multi-output FIR-like datapath with 4 parallel processing streams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53312"/>
            <a:ext cx="438912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53312"/>
            <a:ext cx="438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14447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Timing Constraints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7373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testdesign.sdc defining a 200 MHz clock (5 ns period), I/O delays, and false paths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7063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70632"/>
            <a:ext cx="438912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70632"/>
            <a:ext cx="438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28620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Retiming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315468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Genus register retiming to rebalance pipeline stages and reduce critical-path delay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7063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70632"/>
            <a:ext cx="438912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770632"/>
            <a:ext cx="438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8620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&amp;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85232" y="315468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syn_gen → syn_map → syn_opt and emits QoR, timing, area, and gate reports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</a:t>
            </a:r>
            <a:pPr indent="0" marL="0">
              <a:buNone/>
            </a:pPr>
            <a:r>
              <a:rPr lang="en-US" sz="13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timing performance through automatic register retiming during RTL synthesis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Inputs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618488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Files &amp; Their Purpose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233172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9377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testdesign.v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Verilog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design — 4-input datapath with 16 FIR coefficients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testdesign.sdc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MHz clock, I/O delays (2.25 ns), setup uncertainty (1.25 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LIB/*.lib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Cell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timing libs: slow.lib, pll.lib, CDK_S128x16, CDK_S256x16, CDK_R512x16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run.tcl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end-to-end Genus flow: read → elaborate → retime → syn_gen/map/opt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Key Parameters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4041648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4151376"/>
            <a:ext cx="91440" cy="9144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114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Period: 5.00 ns (200 MHz)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352544"/>
            <a:ext cx="91440" cy="9144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3159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Uncertainty: 1.25 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553712"/>
            <a:ext cx="91440" cy="9144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5171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Delay: 2.25 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Statistics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0" y="4041648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151376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testdesign  (Verilog-2001)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4352544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43159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4 × 10-bit vectors (xout_15_1..4)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4553712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45171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4 × 5-bit data + 16 × 8-bit coefficients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Synthesis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426464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Eight-Stage RTL-to-Gates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941832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read_hdl -v2001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61872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032" y="1371600"/>
            <a:ext cx="941832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99032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elaborate $design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40864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371600"/>
            <a:ext cx="941832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78024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Checks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78024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check_design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19856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1371600"/>
            <a:ext cx="941832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57016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Constraints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57016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read_sdc *.sdc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98848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6008" y="1371600"/>
            <a:ext cx="941832" cy="53035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36008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Retiming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6008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set_attr retime true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1371600"/>
            <a:ext cx="941832" cy="53035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syn_gen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Synthesis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56832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3992" y="1371600"/>
            <a:ext cx="941832" cy="53035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93992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syn_map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93992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Mapping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735824" y="1609344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72984" y="1371600"/>
            <a:ext cx="941832" cy="530352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72984" y="14081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syn_opt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72984" y="16642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Incremental Opt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90288" y="1325880"/>
            <a:ext cx="1033272" cy="621792"/>
          </a:xfrm>
          <a:prstGeom prst="rect">
            <a:avLst/>
          </a:prstGeom>
          <a:ln w="25400">
            <a:solidFill>
              <a:srgbClr val="B832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975104"/>
            <a:ext cx="987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Critical Step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2249424"/>
            <a:ext cx="2066544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24942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Initialization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78024" y="2249424"/>
            <a:ext cx="2066544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8024" y="224942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Pre-Synthesis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36008" y="2249424"/>
            <a:ext cx="4224528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2249424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Synthesis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2907792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3017520"/>
            <a:ext cx="73152" cy="25603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3017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testdesign_generic.db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2920" y="3392424"/>
            <a:ext cx="73152" cy="25603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3392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testdesign_map.db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3767328"/>
            <a:ext cx="73152" cy="25603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3767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testdesign_incr.db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4142232"/>
            <a:ext cx="73152" cy="25603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142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 (QoR, timing, area, gates)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75488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Retiming Effect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754880" y="290779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92040" y="3017520"/>
            <a:ext cx="39319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3035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Before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29200" y="32004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−4221 ps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892040" y="3520440"/>
            <a:ext cx="39319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538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After (syn_opt)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029200" y="3703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−883 ps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892040" y="4023360"/>
            <a:ext cx="39319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0" y="4041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Improvement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029200" y="4206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−890k → −295k 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run.tcl — Library Setup &amp; Design Initialization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042416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Synthesis Environment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846320" cy="2331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run.tcl — Library &amp; Initialization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Library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set_attribute library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./LIB/slow.lib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./LIB/pll.lib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./LIB/CDK_S128x16.lib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./LIB/CDK_S256x16.lib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./LIB/CDK_R512x16.lib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Top-level module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design testdesign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Synthesis effort levels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SYN_EFF  medium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MAP_EFF  medium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298448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1298448"/>
            <a:ext cx="73152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3350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 Libraries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4688" y="1527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libs loaded: timing-accurate slow-corner models plus SRAM/RAM macros (CDK_S128x16, CDK_S256x16, CDK_R512x16)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1856232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856232"/>
            <a:ext cx="73152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18928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Module Declaration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04688" y="2084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design testdesign — tells Genus which RTL module is the synthesis root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414016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2414016"/>
            <a:ext cx="73152" cy="502920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2450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Levels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4688" y="2642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'medium' effort balances runtime vs quality; can be raised to 'high' for timing closure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297180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2971800"/>
            <a:ext cx="73152" cy="502920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30083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Optimization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4688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set_attribute tns_opto true — enables Total Negative Slack optimization across all violating paths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730752"/>
            <a:ext cx="8503920" cy="50292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307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flags: retime_debug and retime_debug_path are enabled → Genus writes retiming move logs to st_debug_logs/ for post-run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run.tcl — Read RTL, Elaboration &amp; Design Checks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042416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3–5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Building the Hierarchy, and Validating the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38912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RTL Read &amp; Elaborate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Verilog RTL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read_hdl -v2001 testdesign.v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internal hierarchy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elaborate $design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design integrity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check_design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check_design -undriven -unloaded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-multidriven -unresolved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-constant &gt; check_design.report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Timing lint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timing -lint -verbose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298448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98448"/>
            <a:ext cx="393192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read_hdl -v2001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64008" cy="640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6093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Verilog-2001 syntax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1819656"/>
            <a:ext cx="64008" cy="640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7830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all modules and parameters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1993392"/>
            <a:ext cx="64008" cy="640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9568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syntax errors immediately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258568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258568"/>
            <a:ext cx="3931920" cy="256032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$design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64008" cy="6400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56946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module hierarchy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779776"/>
            <a:ext cx="64008" cy="6400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7432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parameters and generates nets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2953512"/>
            <a:ext cx="64008" cy="6400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91693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internal netlist object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218688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218688"/>
            <a:ext cx="3931920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check_design + timing lint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3566160"/>
            <a:ext cx="64008" cy="64008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5295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undriven / unloaded signals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3739896"/>
            <a:ext cx="64008" cy="64008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7033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multidriven nets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3913632"/>
            <a:ext cx="64008" cy="64008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87705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constraint issues before synthesis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401568"/>
            <a:ext cx="4389120" cy="45720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015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timing -endpoints -num_paths 10 &gt; CritPath_SDC.rpt  ←  pre-retiming critical path baseline (WNS = −4221 ps)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run.tcl — Reading SDC Timing Constraints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850392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Clock, I/O Delays, and False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389120" cy="2606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testdesign.sdc (excerpt)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CLK_200_PERIOD       5.00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CLK_200_S_UNCERT     1.25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CLK_200_INPUT_DELAY  2.25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CLK_200_OUTPUT_DELAY 2.25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create_clock -period 5.00 [get_ports clk]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set_clock_uncertainty -setup 1.25 clk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reset — excluded from timing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set_false_path -from [get_ports rst_l]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Synchronous inputs (xin_1..4)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set_input_delay 2.25 [get_ports $clk_inputs]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-clock [get_clocks clk]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 (xout_15_1..4)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set_output_delay 2.25 [get_ports $clk_outputs]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-clock [get_clocks clk]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98448"/>
          <a:ext cx="3931920" cy="233172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73736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frequency: 200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Uncert.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Guard-band reduces usable window to 3.75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consumed by upstream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reserved for downstream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rst_l + 16 coef 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timing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892040" y="3730752"/>
            <a:ext cx="393192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Constraints Matter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39684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SDC, Genus has no timing target and retiming has no objective — the tool cannot determine which register moves improve slack.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3977640"/>
            <a:ext cx="4389120" cy="50292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77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read_sdc Constraints/testdesign.sdc  ←  TCL command loads the above constraints into the Genus timing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run.tcl — Enabling Register Retiming  ★ Most Critical Step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850392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Genus to Move Registers Across Combinational 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474720" cy="1234440"/>
          </a:xfrm>
          <a:prstGeom prst="rect">
            <a:avLst/>
          </a:prstGeom>
          <a:solidFill>
            <a:srgbClr val="0D2137"/>
          </a:solidFill>
          <a:ln w="25400">
            <a:solidFill>
              <a:srgbClr val="5A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Retiming Activation Commands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retiming on all instances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set_attr retime true /des*/*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Allow reset logic to be retimed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set_attr retime_optimize_reset true 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298448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1298448"/>
            <a:ext cx="2286000" cy="23774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Registers Forward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5727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flip-flops past combinational gates to reduce logic depth on long paths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298448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298448"/>
            <a:ext cx="2286000" cy="23774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Registers Backward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5727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flip-flops through gates to absorb slack from short, fast paths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2304288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2304288"/>
            <a:ext cx="2286000" cy="23774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304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Pipeline Stages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5786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Equalises delay across parallel paths so no single stage dominates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2304288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304288"/>
            <a:ext cx="2286000" cy="23774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304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Critical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5786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improved from −4221 ps → −883 ps (79% reduction in worst violation)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468880"/>
            <a:ext cx="1645920" cy="2240280"/>
          </a:xfrm>
          <a:prstGeom prst="rect">
            <a:avLst/>
          </a:prstGeom>
          <a:solidFill>
            <a:srgbClr val="D9ECF5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816352"/>
            <a:ext cx="41148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816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51560" y="2816352"/>
            <a:ext cx="640080" cy="320040"/>
          </a:xfrm>
          <a:prstGeom prst="rect">
            <a:avLst/>
          </a:prstGeom>
          <a:solidFill>
            <a:srgbClr val="D0D0D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2816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14400" y="2944368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639312"/>
            <a:ext cx="41148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39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1560" y="3639312"/>
            <a:ext cx="640080" cy="320040"/>
          </a:xfrm>
          <a:prstGeom prst="rect">
            <a:avLst/>
          </a:prstGeom>
          <a:solidFill>
            <a:srgbClr val="D0D0D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36393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4400" y="3767328"/>
            <a:ext cx="13716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023360"/>
            <a:ext cx="731520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23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−4221 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389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paths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29968" y="3474720"/>
            <a:ext cx="320040" cy="54864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3392" y="3337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938528" y="36758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87168" y="2468880"/>
            <a:ext cx="1645920" cy="2240280"/>
          </a:xfrm>
          <a:prstGeom prst="rect">
            <a:avLst/>
          </a:prstGeom>
          <a:solidFill>
            <a:srgbClr val="E8FFF0"/>
          </a:solidFill>
          <a:ln w="12700">
            <a:solidFill>
              <a:srgbClr val="80D8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87168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70048" y="2816352"/>
            <a:ext cx="411480" cy="32004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0048" y="2816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0" y="2816352"/>
            <a:ext cx="640080" cy="320040"/>
          </a:xfrm>
          <a:prstGeom prst="rect">
            <a:avLst/>
          </a:prstGeom>
          <a:solidFill>
            <a:srgbClr val="D0F0D8"/>
          </a:solidFill>
          <a:ln w="6350">
            <a:solidFill>
              <a:srgbClr val="60C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2816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081528" y="2944368"/>
            <a:ext cx="11887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048" y="3639312"/>
            <a:ext cx="411480" cy="32004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70048" y="3639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0" y="3639312"/>
            <a:ext cx="640080" cy="320040"/>
          </a:xfrm>
          <a:prstGeom prst="rect">
            <a:avLst/>
          </a:prstGeom>
          <a:solidFill>
            <a:srgbClr val="D0F0D8"/>
          </a:solidFill>
          <a:ln w="6350">
            <a:solidFill>
              <a:srgbClr val="60C0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36393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081528" y="3767328"/>
            <a:ext cx="11887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88920" y="4023360"/>
            <a:ext cx="731520" cy="256032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88920" y="4023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−883 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487168" y="4389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paths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run.tcl — Synthesis Stages: syn_gen → syn_map → syn_opt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1138428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11384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8–10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Progressive Stages of RTL-to-Gates Synthesis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743200" cy="502920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Synthesis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89280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RTL to technology-independent Boolean logic. Applies initial retiming transformations — register moves determined here.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2560320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Snapshot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2926080"/>
            <a:ext cx="73152" cy="73152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9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23,402 leaf instances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3218688"/>
            <a:ext cx="73152" cy="73152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821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72,981 area units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" y="3511296"/>
            <a:ext cx="73152" cy="73152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74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−2688 ps  /  TNS: −890k 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389120"/>
            <a:ext cx="2560320" cy="27432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write_db → testdesign_generic.db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298448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408" y="1298448"/>
            <a:ext cx="274320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Mapping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74136" y="189280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generic gates to actual standard cells (NAND, FF, buffers) using timing-accurate library data. Area drops ~50%.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55848" y="2651760"/>
            <a:ext cx="2560320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Snapshot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2926080"/>
            <a:ext cx="73152" cy="731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2889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16,167 leaf instances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218688"/>
            <a:ext cx="73152" cy="731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1821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36,839 area units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29000" y="3511296"/>
            <a:ext cx="73152" cy="731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3474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−2182 ps  /  TNS: −832k 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4389120"/>
            <a:ext cx="2560320" cy="27432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write_db → testdesign_map.db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08776" y="1298448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1298448"/>
            <a:ext cx="2743200" cy="50292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syn_opt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08776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Optimisation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18504" y="189280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pass: buffer insertion, cell resizing, additional retiming. Largest improvement in WNS — slack cut by ~60% from map stage.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0216" y="2651760"/>
            <a:ext cx="2560320" cy="201168"/>
          </a:xfrm>
          <a:prstGeom prst="rect">
            <a:avLst/>
          </a:prstGeom>
          <a:solidFill>
            <a:srgbClr val="D9ECF5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Snapshot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73368" y="2926080"/>
            <a:ext cx="73152" cy="73152"/>
          </a:xfrm>
          <a:prstGeom prst="ellipse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3096" y="2889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22,799 leaf instances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73368" y="3218688"/>
            <a:ext cx="73152" cy="73152"/>
          </a:xfrm>
          <a:prstGeom prst="ellipse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1821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44,881 area units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73368" y="3511296"/>
            <a:ext cx="73152" cy="73152"/>
          </a:xfrm>
          <a:prstGeom prst="ellipse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096" y="3474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 −883 ps  /  TNS: −295k ps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0216" y="4389120"/>
            <a:ext cx="2560320" cy="27432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write_db → testdesign_incr.db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800600"/>
            <a:ext cx="8503920" cy="45720"/>
          </a:xfrm>
          <a:prstGeom prst="rect">
            <a:avLst/>
          </a:prstGeom>
          <a:solidFill>
            <a:srgbClr val="C0D0E0"/>
          </a:solidFill>
          <a:ln w="12700">
            <a:solidFill>
              <a:srgbClr val="C0D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−2688 ps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6888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4048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−2182 ps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6928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0936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−883 ps  ✓ Best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Reports &amp; Final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12648"/>
            <a:ext cx="946404" cy="201168"/>
          </a:xfrm>
          <a:prstGeom prst="rect">
            <a:avLst>
              <a:gd name="adj" fmla="val 2272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12648"/>
            <a:ext cx="946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Generated Reports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288036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gen_qor.rpt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 −2688 ps, TNS −890k, 23,402 cells, area 72,981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map_qor.rpt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 −2182 ps, TNS −832k, 16,167 cells, area 36,839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iopt_qor.rpt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syn_opt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 −883 ps, TNS −295k, 22,799 cells, area 44,881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TimingPath_Opt.rpt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syn_opt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critical endpoints; worst: csa_tree_add…_reg/D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CritPath_SDC.rpt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Pre-syn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WNS −4221 ps (before retiming)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map_area.rpt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cell area and physical hierarchy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map_gates.rpt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syn_map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Gate-level statistics (NAND, FF, buffer counts)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279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Timing Metrics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4572000"/>
            <a:ext cx="2697480" cy="45720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Time − Arrival Time.  Positive = timing met.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4572000"/>
            <a:ext cx="2697480" cy="45720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WNS: 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 — the most critical single path violation.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4572000"/>
            <a:ext cx="2697480" cy="457200"/>
          </a:xfrm>
          <a:prstGeom prst="rect">
            <a:avLst/>
          </a:prstGeom>
          <a:solidFill>
            <a:srgbClr val="D9ECF5"/>
          </a:solidFill>
          <a:ln w="6350">
            <a:solidFill>
              <a:srgbClr val="B0CC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TNS: 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Negative Slack — sum of all violating path slacks.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749808"/>
            <a:ext cx="3200400" cy="36576"/>
          </a:xfrm>
          <a:prstGeom prst="rect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7782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Regynix demonstrates how Cadence Genus performs automated retiming optimization — delivering a 79% improvement in worst-case timing slack through intelligent register redistribution across pipeline logic.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Demonstrated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3931920" cy="530352"/>
          </a:xfrm>
          <a:prstGeom prst="rect">
            <a:avLst/>
          </a:prstGeom>
          <a:solidFill>
            <a:srgbClr val="0F2A3F"/>
          </a:solidFill>
          <a:ln w="6350">
            <a:solidFill>
              <a:srgbClr val="1B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842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Synthesis 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167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elaborate → check → constrain → synthesize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69464"/>
            <a:ext cx="3931920" cy="530352"/>
          </a:xfrm>
          <a:prstGeom prst="rect">
            <a:avLst/>
          </a:prstGeom>
          <a:solidFill>
            <a:srgbClr val="0F2A3F"/>
          </a:solidFill>
          <a:ln w="6350">
            <a:solidFill>
              <a:srgbClr val="1B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96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Retiming Mechanism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2779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 moves FFs forward/backward through logic to balance pipeline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82112"/>
            <a:ext cx="3931920" cy="530352"/>
          </a:xfrm>
          <a:prstGeom prst="rect">
            <a:avLst/>
          </a:prstGeom>
          <a:solidFill>
            <a:srgbClr val="0F2A3F"/>
          </a:solidFill>
          <a:ln w="6350">
            <a:solidFill>
              <a:srgbClr val="1B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09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Constraints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3392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(200 MHz), I/O delays, false paths define the timing target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956816"/>
            <a:ext cx="3931920" cy="530352"/>
          </a:xfrm>
          <a:prstGeom prst="rect">
            <a:avLst/>
          </a:prstGeom>
          <a:solidFill>
            <a:srgbClr val="0F2A3F"/>
          </a:solidFill>
          <a:ln w="6350">
            <a:solidFill>
              <a:srgbClr val="1B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9842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Mapping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2167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Boolean → actual NAND/FF/buffer standard cells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569464"/>
            <a:ext cx="3931920" cy="530352"/>
          </a:xfrm>
          <a:prstGeom prst="rect">
            <a:avLst/>
          </a:prstGeom>
          <a:solidFill>
            <a:srgbClr val="0F2A3F"/>
          </a:solidFill>
          <a:ln w="6350">
            <a:solidFill>
              <a:srgbClr val="1B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96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2779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WNS/TNS metrics across three synthesis stages show steady improvement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182112"/>
            <a:ext cx="3931920" cy="530352"/>
          </a:xfrm>
          <a:prstGeom prst="rect">
            <a:avLst/>
          </a:prstGeom>
          <a:solidFill>
            <a:srgbClr val="0F3020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09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9472" y="3392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improved from −4221 ps (baseline) to −883 ps (syn_opt)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Regynix  ·  Cadence Genus Retiming Flow  ·  Jairus Samraj Solomon  ·  VIT Chennai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Regynix – Cadence Genus Retiming Synthesis Flow</dc:title>
  <dc:subject>PptxGenJS Presentation</dc:subject>
  <dc:creator>Jairus Samraj Solomon</dc:creator>
  <cp:lastModifiedBy>Jairus Samraj Solomon</cp:lastModifiedBy>
  <cp:revision>1</cp:revision>
  <dcterms:created xsi:type="dcterms:W3CDTF">2026-05-14T10:07:27Z</dcterms:created>
  <dcterms:modified xsi:type="dcterms:W3CDTF">2026-05-14T10:07:27Z</dcterms:modified>
</cp:coreProperties>
</file>